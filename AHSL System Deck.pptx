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512064"/>
            <a:ext cx="9089136" cy="0"/>
          </a:xfrm>
          <a:prstGeom prst="line">
            <a:avLst/>
          </a:prstGeom>
          <a:noFill/>
          <a:ln w="6350">
            <a:solidFill>
              <a:srgbClr val="1E1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1024128"/>
            <a:ext cx="9089136" cy="0"/>
          </a:xfrm>
          <a:prstGeom prst="line">
            <a:avLst/>
          </a:prstGeom>
          <a:noFill/>
          <a:ln w="6350">
            <a:solidFill>
              <a:srgbClr val="1E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" y="1536192"/>
            <a:ext cx="9089136" cy="0"/>
          </a:xfrm>
          <a:prstGeom prst="line">
            <a:avLst/>
          </a:prstGeom>
          <a:noFill/>
          <a:ln w="6350">
            <a:solidFill>
              <a:srgbClr val="1E1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" y="2048256"/>
            <a:ext cx="9089136" cy="0"/>
          </a:xfrm>
          <a:prstGeom prst="line">
            <a:avLst/>
          </a:prstGeom>
          <a:noFill/>
          <a:ln w="6350">
            <a:solidFill>
              <a:srgbClr val="1E1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" y="2560320"/>
            <a:ext cx="9089136" cy="0"/>
          </a:xfrm>
          <a:prstGeom prst="line">
            <a:avLst/>
          </a:prstGeom>
          <a:noFill/>
          <a:ln w="635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" y="3072384"/>
            <a:ext cx="9089136" cy="0"/>
          </a:xfrm>
          <a:prstGeom prst="line">
            <a:avLst/>
          </a:prstGeom>
          <a:noFill/>
          <a:ln w="6350">
            <a:solidFill>
              <a:srgbClr val="1E1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" y="3584448"/>
            <a:ext cx="9089136" cy="0"/>
          </a:xfrm>
          <a:prstGeom prst="line">
            <a:avLst/>
          </a:prstGeom>
          <a:noFill/>
          <a:ln w="6350">
            <a:solidFill>
              <a:srgbClr val="1E1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" y="4096512"/>
            <a:ext cx="9089136" cy="0"/>
          </a:xfrm>
          <a:prstGeom prst="line">
            <a:avLst/>
          </a:prstGeom>
          <a:noFill/>
          <a:ln w="6350">
            <a:solidFill>
              <a:srgbClr val="1E1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" y="4608576"/>
            <a:ext cx="9089136" cy="0"/>
          </a:xfrm>
          <a:prstGeom prst="line">
            <a:avLst/>
          </a:prstGeom>
          <a:noFill/>
          <a:ln w="635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7B3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CHARACTER SYSTEMS · v2.0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0E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HEALING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0E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 LOOP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Self-Healing Character Architecture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Drift Governance in Generative AI Systems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0" y="4389120"/>
            <a:ext cx="1828800" cy="457200"/>
          </a:xfrm>
          <a:prstGeom prst="rect">
            <a:avLst/>
          </a:prstGeom>
          <a:solidFill>
            <a:srgbClr val="7B3FE4">
              <a:alpha val="80000"/>
            </a:srgbClr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AHSL · DRSE · v2.0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4434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TYPE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91840" y="4617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/ GOVERNED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4434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0" y="4617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FRAME-LEVEL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44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E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Character Drift: The Root Failure Mode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3383280"/>
          </a:xfrm>
          <a:prstGeom prst="rect">
            <a:avLst/>
          </a:prstGeom>
          <a:solidFill>
            <a:srgbClr val="12121A"/>
          </a:solidFill>
          <a:ln w="15240">
            <a:solidFill>
              <a:srgbClr val="E44B9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01168" cy="201168"/>
          </a:xfrm>
          <a:prstGeom prst="ellipse">
            <a:avLst/>
          </a:prstGeom>
          <a:solidFill>
            <a:srgbClr val="E44B9A"/>
          </a:solidFill>
          <a:ln w="12700">
            <a:solidFill>
              <a:srgbClr val="E44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47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geometry shifts frame-to-frame without correction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201168" cy="201168"/>
          </a:xfrm>
          <a:prstGeom prst="ellipse">
            <a:avLst/>
          </a:prstGeom>
          <a:solidFill>
            <a:srgbClr val="E44B9A"/>
          </a:solidFill>
          <a:ln w="12700">
            <a:solidFill>
              <a:srgbClr val="E44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models override canonical skin/eye tone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35224"/>
            <a:ext cx="201168" cy="201168"/>
          </a:xfrm>
          <a:prstGeom prst="ellipse">
            <a:avLst/>
          </a:prstGeom>
          <a:solidFill>
            <a:srgbClr val="E44B9A"/>
          </a:solidFill>
          <a:ln w="12700">
            <a:solidFill>
              <a:srgbClr val="E44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07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sequences compound micro-deviations into full identity loss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201168" cy="201168"/>
          </a:xfrm>
          <a:prstGeom prst="ellipse">
            <a:avLst/>
          </a:prstGeom>
          <a:solidFill>
            <a:srgbClr val="E44B9A"/>
          </a:solidFill>
          <a:ln w="12700">
            <a:solidFill>
              <a:srgbClr val="E44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381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feedback loop in generative pipelines to self-correct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95928"/>
            <a:ext cx="201168" cy="201168"/>
          </a:xfrm>
          <a:prstGeom prst="ellipse">
            <a:avLst/>
          </a:prstGeom>
          <a:solidFill>
            <a:srgbClr val="E44B9A"/>
          </a:solidFill>
          <a:ln w="12700">
            <a:solidFill>
              <a:srgbClr val="E44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cleanup costs 40-70% of production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383280"/>
          </a:xfrm>
          <a:prstGeom prst="rect">
            <a:avLst/>
          </a:prstGeom>
          <a:solidFill>
            <a:srgbClr val="12121A"/>
          </a:solidFill>
          <a:ln w="15240">
            <a:solidFill>
              <a:srgbClr val="7B3FE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Escalation Model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874520"/>
            <a:ext cx="731520" cy="347472"/>
          </a:xfrm>
          <a:prstGeom prst="rect">
            <a:avLst/>
          </a:prstGeom>
          <a:solidFill>
            <a:srgbClr val="3FE47B">
              <a:alpha val="70000"/>
            </a:srgbClr>
          </a:solidFill>
          <a:ln w="12700">
            <a:solidFill>
              <a:srgbClr val="3FE4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8745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06440" y="1874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DRS 0.00–0.15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423160"/>
            <a:ext cx="1280160" cy="347472"/>
          </a:xfrm>
          <a:prstGeom prst="rect">
            <a:avLst/>
          </a:prstGeom>
          <a:solidFill>
            <a:srgbClr val="E4D43F">
              <a:alpha val="70000"/>
            </a:srgbClr>
          </a:solidFill>
          <a:ln w="12700">
            <a:solidFill>
              <a:srgbClr val="E4D4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423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DRS 0.15–0.35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971800"/>
            <a:ext cx="2011680" cy="347472"/>
          </a:xfrm>
          <a:prstGeom prst="rect">
            <a:avLst/>
          </a:prstGeom>
          <a:solidFill>
            <a:srgbClr val="E47B3F">
              <a:alpha val="70000"/>
            </a:srgbClr>
          </a:solidFill>
          <a:ln w="12700">
            <a:solidFill>
              <a:srgbClr val="E47B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 HEAL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86600" y="2971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DRS 0.35–0.60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520440"/>
            <a:ext cx="2926080" cy="347472"/>
          </a:xfrm>
          <a:prstGeom prst="rect">
            <a:avLst/>
          </a:prstGeom>
          <a:solidFill>
            <a:srgbClr val="E43F3F">
              <a:alpha val="70000"/>
            </a:srgbClr>
          </a:solidFill>
          <a:ln w="12700">
            <a:solidFill>
              <a:srgbClr val="E43F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520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RESET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01000" y="3520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DRS 0.60+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4160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governance, drift compounds.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band requires a different healing response.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7B3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E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AHSL — Five Core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051560"/>
          </a:xfrm>
          <a:prstGeom prst="rect">
            <a:avLst/>
          </a:prstGeom>
          <a:solidFill>
            <a:srgbClr val="12121A"/>
          </a:solidFill>
          <a:ln w="15240">
            <a:solidFill>
              <a:srgbClr val="7B3FE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3F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DRSE Scoring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5819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DRS = Σ(w_domain × Δ_norm) + λ × R_{t-1}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domain scoring with temporal decay λ. Motion domains weighted highest (M=1.20, T=1.35). Real-time per-frame output.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12121A"/>
          </a:solidFill>
          <a:ln w="15240">
            <a:solidFill>
              <a:srgbClr val="3FD4E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D4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Classifier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7706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 → YELLOW → ORANGE → 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9718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Four-band escalation schema. Each band maps to a discrete healing protocol. Thresholds tunable per character anchor.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114800" cy="1051560"/>
          </a:xfrm>
          <a:prstGeom prst="rect">
            <a:avLst/>
          </a:prstGeom>
          <a:solidFill>
            <a:srgbClr val="12121A"/>
          </a:solidFill>
          <a:ln w="15240">
            <a:solidFill>
              <a:srgbClr val="E4B83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B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Healing Controller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959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B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breach → repair. Motion → exemption.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repair for identity breaches. Motion exemption α=0.3 prevents over-correction during action sequences.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1234440"/>
            <a:ext cx="4114800" cy="1051560"/>
          </a:xfrm>
          <a:prstGeom prst="rect">
            <a:avLst/>
          </a:prstGeom>
          <a:solidFill>
            <a:srgbClr val="12121A"/>
          </a:solidFill>
          <a:ln w="15240">
            <a:solidFill>
              <a:srgbClr val="E44B9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4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Exemption Zone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15819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4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α-dynamic reduction during high-exposure events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17830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Highest-drift domains get dynamic α reduction during action. Temporal decay λ: 0.1 image / 0.5 clip / 0.8 video.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423160"/>
            <a:ext cx="4114800" cy="1051560"/>
          </a:xfrm>
          <a:prstGeom prst="rect">
            <a:avLst/>
          </a:prstGeom>
          <a:solidFill>
            <a:srgbClr val="12121A"/>
          </a:solidFill>
          <a:ln w="15240">
            <a:solidFill>
              <a:srgbClr val="7B3FE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3F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Memory Tracker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7706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Per-frame: {canonical, live, DRS, repairs, promoted?}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9718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complete state history. Enables loop closure → promotion of current n to canonical. Append-only audit trail.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MECHANICS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E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Recursive Healing 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08760" cy="1005840"/>
          </a:xfrm>
          <a:prstGeom prst="rect">
            <a:avLst/>
          </a:prstGeom>
          <a:solidFill>
            <a:srgbClr val="12121A"/>
          </a:solidFill>
          <a:ln w="25400">
            <a:solidFill>
              <a:srgbClr val="7B3FE4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3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B3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1508760" cy="1005840"/>
          </a:xfrm>
          <a:prstGeom prst="rect">
            <a:avLst/>
          </a:prstGeom>
          <a:solidFill>
            <a:srgbClr val="12121A"/>
          </a:solidFill>
          <a:ln w="25400">
            <a:solidFill>
              <a:srgbClr val="3FD4E4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18288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828800"/>
            <a:ext cx="1508760" cy="1005840"/>
          </a:xfrm>
          <a:prstGeom prst="rect">
            <a:avLst/>
          </a:prstGeom>
          <a:solidFill>
            <a:srgbClr val="12121A"/>
          </a:solidFill>
          <a:ln w="25400">
            <a:solidFill>
              <a:srgbClr val="E4B83F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18288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B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BAND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4B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828800"/>
            <a:ext cx="1508760" cy="1005840"/>
          </a:xfrm>
          <a:prstGeom prst="rect">
            <a:avLst/>
          </a:prstGeom>
          <a:solidFill>
            <a:srgbClr val="12121A"/>
          </a:solidFill>
          <a:ln w="25400">
            <a:solidFill>
              <a:srgbClr val="E44B9A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18288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4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44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828800"/>
            <a:ext cx="1508760" cy="1005840"/>
          </a:xfrm>
          <a:prstGeom prst="rect">
            <a:avLst/>
          </a:prstGeom>
          <a:solidFill>
            <a:srgbClr val="12121A"/>
          </a:solidFill>
          <a:ln w="25400">
            <a:solidFill>
              <a:srgbClr val="3FE47B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8288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E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FE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n+1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65960" y="2331720"/>
            <a:ext cx="137160" cy="0"/>
          </a:xfrm>
          <a:prstGeom prst="line">
            <a:avLst/>
          </a:prstGeom>
          <a:noFill/>
          <a:ln w="19050">
            <a:solidFill>
              <a:srgbClr val="707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222199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2331720"/>
            <a:ext cx="137160" cy="0"/>
          </a:xfrm>
          <a:prstGeom prst="line">
            <a:avLst/>
          </a:prstGeom>
          <a:noFill/>
          <a:ln w="19050">
            <a:solidFill>
              <a:srgbClr val="707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222199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2331720"/>
            <a:ext cx="137160" cy="0"/>
          </a:xfrm>
          <a:prstGeom prst="line">
            <a:avLst/>
          </a:prstGeom>
          <a:noFill/>
          <a:ln w="19050">
            <a:solidFill>
              <a:srgbClr val="7070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222199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2331720"/>
            <a:ext cx="137160" cy="0"/>
          </a:xfrm>
          <a:prstGeom prst="line">
            <a:avLst/>
          </a:prstGeom>
          <a:noFill/>
          <a:ln w="19050">
            <a:solidFill>
              <a:srgbClr val="7070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222199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3017520"/>
            <a:ext cx="0" cy="457200"/>
          </a:xfrm>
          <a:prstGeom prst="line">
            <a:avLst/>
          </a:prstGeom>
          <a:noFill/>
          <a:ln w="19050">
            <a:solidFill>
              <a:srgbClr val="3FE4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74720"/>
            <a:ext cx="6583680" cy="0"/>
          </a:xfrm>
          <a:prstGeom prst="line">
            <a:avLst/>
          </a:prstGeom>
          <a:noFill/>
          <a:ln w="19050">
            <a:solidFill>
              <a:srgbClr val="3FE4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17520"/>
            <a:ext cx="0" cy="457200"/>
          </a:xfrm>
          <a:prstGeom prst="line">
            <a:avLst/>
          </a:prstGeom>
          <a:noFill/>
          <a:ln w="19050">
            <a:solidFill>
              <a:srgbClr val="3FE4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FE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CLOSED → PROMOTE CANONICAL (n → n+1)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2560320" cy="1005840"/>
          </a:xfrm>
          <a:prstGeom prst="rect">
            <a:avLst/>
          </a:prstGeom>
          <a:solidFill>
            <a:srgbClr val="12121A"/>
          </a:solidFill>
          <a:ln w="15240">
            <a:solidFill>
              <a:srgbClr val="7B3FE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3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DECAY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2793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0.1 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0.5 (clip)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0.8 (video)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931920"/>
            <a:ext cx="2560320" cy="1005840"/>
          </a:xfrm>
          <a:prstGeom prst="rect">
            <a:avLst/>
          </a:prstGeom>
          <a:solidFill>
            <a:srgbClr val="12121A"/>
          </a:solidFill>
          <a:ln w="15240">
            <a:solidFill>
              <a:srgbClr val="E44B9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2900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4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 EXEMPTION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29000" y="42793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0.3 for high-exposure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during 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931920"/>
            <a:ext cx="2560320" cy="1005840"/>
          </a:xfrm>
          <a:prstGeom prst="rect">
            <a:avLst/>
          </a:prstGeom>
          <a:solidFill>
            <a:srgbClr val="12121A"/>
          </a:solidFill>
          <a:ln w="15240">
            <a:solidFill>
              <a:srgbClr val="3FD4E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6364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MEMORY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42793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logged: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· live · DRS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· promoted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4B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AUTHORITY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E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Value in the Art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65960" cy="1188720"/>
          </a:xfrm>
          <a:prstGeom prst="rect">
            <a:avLst/>
          </a:prstGeom>
          <a:solidFill>
            <a:srgbClr val="7B3FE4">
              <a:alpha val="15000"/>
            </a:srgbClr>
          </a:solidFill>
          <a:ln w="19050">
            <a:solidFill>
              <a:srgbClr val="7B3FE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F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234440"/>
            <a:ext cx="1965960" cy="1188720"/>
          </a:xfrm>
          <a:prstGeom prst="rect">
            <a:avLst/>
          </a:prstGeom>
          <a:solidFill>
            <a:srgbClr val="E4B83F">
              <a:alpha val="15000"/>
            </a:srgbClr>
          </a:solidFill>
          <a:ln w="19050">
            <a:solidFill>
              <a:srgbClr val="E4B83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B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1460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4600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65960" cy="1188720"/>
          </a:xfrm>
          <a:prstGeom prst="rect">
            <a:avLst/>
          </a:prstGeom>
          <a:solidFill>
            <a:srgbClr val="3FE47B">
              <a:alpha val="15000"/>
            </a:srgbClr>
          </a:solidFill>
          <a:ln w="19050">
            <a:solidFill>
              <a:srgbClr val="3FE47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E4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234440"/>
            <a:ext cx="1965960" cy="1188720"/>
          </a:xfrm>
          <a:prstGeom prst="rect">
            <a:avLst/>
          </a:prstGeom>
          <a:solidFill>
            <a:srgbClr val="E44B9A">
              <a:alpha val="15000"/>
            </a:srgbClr>
          </a:solidFill>
          <a:ln w="19050">
            <a:solidFill>
              <a:srgbClr val="E44B9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4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81228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12280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4114800" cy="1005840"/>
          </a:xfrm>
          <a:prstGeom prst="rect">
            <a:avLst/>
          </a:prstGeom>
          <a:solidFill>
            <a:srgbClr val="12121A"/>
          </a:solidFill>
          <a:ln w="15240">
            <a:solidFill>
              <a:srgbClr val="7B3FE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6974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3F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Sovereignty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9900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character bible maintained across thousands of generations. True commercial IP for comics, NFTs, merch.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606040"/>
            <a:ext cx="4114800" cy="1005840"/>
          </a:xfrm>
          <a:prstGeom prst="rect">
            <a:avLst/>
          </a:prstGeom>
          <a:solidFill>
            <a:srgbClr val="12121A"/>
          </a:solidFill>
          <a:ln w="15240">
            <a:solidFill>
              <a:srgbClr val="3FD4E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6974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D4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Velocity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9900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 reduction in post-processing time. Ship higher volumes at premium pricing.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4114800" cy="1005840"/>
          </a:xfrm>
          <a:prstGeom prst="rect">
            <a:avLst/>
          </a:prstGeom>
          <a:solidFill>
            <a:srgbClr val="12121A"/>
          </a:solidFill>
          <a:ln w="15240">
            <a:solidFill>
              <a:srgbClr val="E4B83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8404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B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012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Collectibility Premium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1330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Studio-grade consistency signals limited-edition quality. Buyers pay more for verifiable character continuity.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749040"/>
            <a:ext cx="4114800" cy="1005840"/>
          </a:xfrm>
          <a:prstGeom prst="rect">
            <a:avLst/>
          </a:prstGeom>
          <a:solidFill>
            <a:srgbClr val="12121A"/>
          </a:solidFill>
          <a:ln w="15240">
            <a:solidFill>
              <a:srgbClr val="E44B9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8404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4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Signal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41330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who publish AHSL-governed work instantly differentiate as systems-level innovators, not prompt jockeys.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ECOSYSTEM 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E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Adjacent Tools, Formulas &amp; Ancestors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365760"/>
          </a:xfrm>
          <a:prstGeom prst="rect">
            <a:avLst/>
          </a:prstGeom>
          <a:solidFill>
            <a:srgbClr val="7B3FE4">
              <a:alpha val="80000"/>
            </a:srgbClr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Style Tools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7B3F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19072"/>
            <a:ext cx="45720" cy="50292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–cref + –cw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295144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7B3F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95144"/>
            <a:ext cx="45720" cy="50292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13432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IP-Adapter + ControlNet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7B3F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71216"/>
            <a:ext cx="45720" cy="50292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9504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Fooocus FaceDetailer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447288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7B3F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47288"/>
            <a:ext cx="45720" cy="50292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6557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ComfyUI Consistency LoRAs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7B3F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023360"/>
            <a:ext cx="45720" cy="50292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/ Leonardo.AI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Character pipelines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1234440"/>
            <a:ext cx="2743200" cy="365760"/>
          </a:xfrm>
          <a:prstGeom prst="rect">
            <a:avLst/>
          </a:prstGeom>
          <a:solidFill>
            <a:srgbClr val="E4B83F">
              <a:alpha val="80000"/>
            </a:srgbClr>
          </a:solidFill>
          <a:ln w="12700">
            <a:solidFill>
              <a:srgbClr val="E4B8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Formulas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1719072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E4B8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1719072"/>
            <a:ext cx="45720" cy="502920"/>
          </a:xfrm>
          <a:prstGeom prst="rect">
            <a:avLst/>
          </a:prstGeom>
          <a:solidFill>
            <a:srgbClr val="E4B83F"/>
          </a:solidFill>
          <a:ln w="12700">
            <a:solidFill>
              <a:srgbClr val="E4B8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73736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lock + negative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anchors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2295144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E4B8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95144"/>
            <a:ext cx="45720" cy="502920"/>
          </a:xfrm>
          <a:prstGeom prst="rect">
            <a:avLst/>
          </a:prstGeom>
          <a:solidFill>
            <a:srgbClr val="E4B83F"/>
          </a:solidFill>
          <a:ln w="12700">
            <a:solidFill>
              <a:srgbClr val="E4B8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313432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canonical reload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(manual AHSL ancestor)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2871216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E4B8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871216"/>
            <a:ext cx="45720" cy="502920"/>
          </a:xfrm>
          <a:prstGeom prst="rect">
            <a:avLst/>
          </a:prstGeom>
          <a:solidFill>
            <a:srgbClr val="E4B83F"/>
          </a:solidFill>
          <a:ln w="12700">
            <a:solidFill>
              <a:srgbClr val="E4B8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889504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PID-style prompt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ramping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3447288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E4B8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447288"/>
            <a:ext cx="45720" cy="502920"/>
          </a:xfrm>
          <a:prstGeom prst="rect">
            <a:avLst/>
          </a:prstGeom>
          <a:solidFill>
            <a:srgbClr val="E4B83F"/>
          </a:solidFill>
          <a:ln w="12700">
            <a:solidFill>
              <a:srgbClr val="E4B8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46557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 Appeal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logic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4023360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E4B83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4023360"/>
            <a:ext cx="45720" cy="502920"/>
          </a:xfrm>
          <a:prstGeom prst="rect">
            <a:avLst/>
          </a:prstGeom>
          <a:solidFill>
            <a:srgbClr val="E4B83F"/>
          </a:solidFill>
          <a:ln w="12700">
            <a:solidFill>
              <a:srgbClr val="E4B8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4041648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 Character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protocol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1234440"/>
            <a:ext cx="2743200" cy="365760"/>
          </a:xfrm>
          <a:prstGeom prst="rect">
            <a:avLst/>
          </a:prstGeom>
          <a:solidFill>
            <a:srgbClr val="3FD4E4">
              <a:alpha val="80000"/>
            </a:srgbClr>
          </a:solidFill>
          <a:ln w="12700">
            <a:solidFill>
              <a:srgbClr val="3FD4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Ancestors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1719072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3FD4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1719072"/>
            <a:ext cx="45720" cy="502920"/>
          </a:xfrm>
          <a:prstGeom prst="rect">
            <a:avLst/>
          </a:prstGeom>
          <a:solidFill>
            <a:srgbClr val="3FD4E4"/>
          </a:solidFill>
          <a:ln w="12700">
            <a:solidFill>
              <a:srgbClr val="3FD4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173736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(robotics)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2295144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3FD4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2295144"/>
            <a:ext cx="45720" cy="502920"/>
          </a:xfrm>
          <a:prstGeom prst="rect">
            <a:avLst/>
          </a:prstGeom>
          <a:solidFill>
            <a:srgbClr val="3FD4E4"/>
          </a:solidFill>
          <a:ln w="12700">
            <a:solidFill>
              <a:srgbClr val="3FD4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2313432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(computer vision)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2871216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3FD4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2871216"/>
            <a:ext cx="45720" cy="502920"/>
          </a:xfrm>
          <a:prstGeom prst="rect">
            <a:avLst/>
          </a:prstGeom>
          <a:solidFill>
            <a:srgbClr val="3FD4E4"/>
          </a:solidFill>
          <a:ln w="12700">
            <a:solidFill>
              <a:srgbClr val="3FD4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889504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Animator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(state machine)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3447288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3FD4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3447288"/>
            <a:ext cx="45720" cy="502920"/>
          </a:xfrm>
          <a:prstGeom prst="rect">
            <a:avLst/>
          </a:prstGeom>
          <a:solidFill>
            <a:srgbClr val="3FD4E4"/>
          </a:solidFill>
          <a:ln w="12700">
            <a:solidFill>
              <a:srgbClr val="3FD4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346557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Maya/Blender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Locking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4023360"/>
            <a:ext cx="2743200" cy="502920"/>
          </a:xfrm>
          <a:prstGeom prst="rect">
            <a:avLst/>
          </a:prstGeom>
          <a:solidFill>
            <a:srgbClr val="12121A"/>
          </a:solidFill>
          <a:ln w="10160">
            <a:solidFill>
              <a:srgbClr val="3FD4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4023360"/>
            <a:ext cx="45720" cy="502920"/>
          </a:xfrm>
          <a:prstGeom prst="rect">
            <a:avLst/>
          </a:prstGeom>
          <a:solidFill>
            <a:srgbClr val="3FD4E4"/>
          </a:solidFill>
          <a:ln w="12700">
            <a:solidFill>
              <a:srgbClr val="3FD4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4041648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CGI Character Rigs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(VFX pipeline)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7B3FE4">
              <a:alpha val="20000"/>
            </a:srgbClr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AHSL is the first CLOSED-LOOP version of what all these tools attempt with open-loop heuristics.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44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E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Reusable Master Prompt Template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2606040"/>
          </a:xfrm>
          <a:prstGeom prst="rect">
            <a:avLst/>
          </a:prstGeom>
          <a:solidFill>
            <a:srgbClr val="0D0D16"/>
          </a:solidFill>
          <a:ln w="15240">
            <a:solidFill>
              <a:srgbClr val="7B3F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[Character anchor block] inside the current MATRIX...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819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full Adaptive Healing State Loop (AHSL) governor active.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379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DRSE scoring with weighted domains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939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(motion/video highest: M=1.20, T=1.35).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bands active. Motion exemption zone α=0.3.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decay λ=0.1. Immediate proportional healing on breach.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620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E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healing closes the loop and promotes current 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181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AHSL dashboard: DRS · bands · state memory.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741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B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Dramatic low angle... sharp focus, 8k resolution.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9136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PARAMETERS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3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(temporal decay):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4251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image · 0.5 clip · 0.8 video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617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4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(motion exemption):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4617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default (tunable per character)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B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w_motion: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4251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 · w_texture: 1.35 (highest drift risk)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4617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E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closure: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4617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→ GREEN after full heal → "LOOP CLOSED"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FE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EXPANSION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E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Future-Critical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078992"/>
          </a:xfrm>
          <a:prstGeom prst="rect">
            <a:avLst/>
          </a:prstGeom>
          <a:solidFill>
            <a:srgbClr val="12121A"/>
          </a:solidFill>
          <a:ln w="15240">
            <a:solidFill>
              <a:srgbClr val="7B3FE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005840" cy="1078992"/>
          </a:xfrm>
          <a:prstGeom prst="rect">
            <a:avLst/>
          </a:prstGeom>
          <a:solidFill>
            <a:srgbClr val="7B3FE4">
              <a:alpha val="80000"/>
            </a:srgbClr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3F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3716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Lottery → Deterministic IP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1719072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AHSL is the same leap CGI made in the 1990s. From 'maybe it looks right' to 'it will always look right.' This is the new studio-grade production primitive.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96312"/>
            <a:ext cx="8412480" cy="1078992"/>
          </a:xfrm>
          <a:prstGeom prst="rect">
            <a:avLst/>
          </a:prstGeom>
          <a:solidFill>
            <a:srgbClr val="12121A"/>
          </a:solidFill>
          <a:ln w="15240">
            <a:solidFill>
              <a:srgbClr val="E4B83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96312"/>
            <a:ext cx="1005840" cy="1078992"/>
          </a:xfrm>
          <a:prstGeom prst="rect">
            <a:avLst/>
          </a:prstGeom>
          <a:solidFill>
            <a:srgbClr val="E4B83F">
              <a:alpha val="80000"/>
            </a:srgbClr>
          </a:solidFill>
          <a:ln w="12700">
            <a:solidFill>
              <a:srgbClr val="E4B8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94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B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B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2587752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Productization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935224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creator to package AHSL as a Grok Imagine preset or LoRA controls immediate authority in the $200B+ digital art / collectibles market. The window is open now.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8412480" cy="1078992"/>
          </a:xfrm>
          <a:prstGeom prst="rect">
            <a:avLst/>
          </a:prstGeom>
          <a:solidFill>
            <a:srgbClr val="12121A"/>
          </a:solidFill>
          <a:ln w="15240">
            <a:solidFill>
              <a:srgbClr val="E44B9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12464"/>
            <a:ext cx="1005840" cy="1078992"/>
          </a:xfrm>
          <a:prstGeom prst="rect">
            <a:avLst/>
          </a:prstGeom>
          <a:solidFill>
            <a:srgbClr val="E44B9A">
              <a:alpha val="80000"/>
            </a:srgbClr>
          </a:solidFill>
          <a:ln w="12700">
            <a:solidFill>
              <a:srgbClr val="E44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856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4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4169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169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4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3803904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AHSL + Video Extension = Real-Time Animation Governor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4151376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AHSL + video generation = consistent animated character at runtime. That is the 2027 killer app. Every game studio, animation house, and IP licensor will need this.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3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weren't invited. You're already inside."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AHSL — Adaptive Healing State Loop</dc:title>
  <dc:subject>PptxGenJS Presentation</dc:subject>
  <dc:creator>PptxGenJS</dc:creator>
  <cp:lastModifiedBy>PptxGenJS</cp:lastModifiedBy>
  <cp:revision>1</cp:revision>
  <dcterms:created xsi:type="dcterms:W3CDTF">2026-05-09T08:44:11Z</dcterms:created>
  <dcterms:modified xsi:type="dcterms:W3CDTF">2026-05-09T08:44:11Z</dcterms:modified>
</cp:coreProperties>
</file>